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01010"/>
                </a:solidFill>
                <a:latin typeface="Calibri"/>
              </a:rPr>
              <a:t>VISVESVARAYA TECHNOLOGICAL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1010"/>
                </a:solidFill>
                <a:latin typeface="Calibri"/>
              </a:rPr>
              <a:t>Belagavi – 590 018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E1A47"/>
                </a:solidFill>
                <a:latin typeface="Calibri"/>
              </a:rPr>
              <a:t>C. BYREGOWDA INSTITUTE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E6E7E"/>
                </a:solidFill>
                <a:latin typeface="Calibri"/>
              </a:rPr>
              <a:t>Approved by AICTE New Delhi · Accredited by NAAC with B++ Grade · Recognized by Govt. of Karnataka
Affiliated to VTU Belagavi · ISO 9001:2015 Certified Institute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E1A47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A2A35"/>
                </a:solidFill>
                <a:latin typeface="Calibri"/>
              </a:rPr>
              <a:t>Internship Final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6A1F"/>
                </a:solidFill>
                <a:latin typeface="Calibri"/>
              </a:rPr>
              <a:t>Company: </a:t>
            </a:r>
            <a:r>
              <a:rPr sz="1600" b="1">
                <a:solidFill>
                  <a:srgbClr val="2E1A47"/>
                </a:solidFill>
                <a:latin typeface="Calibri"/>
              </a:rPr>
              <a:t>PySpiders, BTM Bengaluru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6A1F"/>
                </a:solidFill>
                <a:latin typeface="Calibri"/>
              </a:rPr>
              <a:t>Domain: </a:t>
            </a:r>
            <a:r>
              <a:rPr sz="1600" b="1">
                <a:solidFill>
                  <a:srgbClr val="2E1A47"/>
                </a:solidFill>
                <a:latin typeface="Calibri"/>
              </a:rPr>
              <a:t>Generative AI · Knowledge Graphs · Retrieval-Augmented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6A1F"/>
                </a:solidFill>
                <a:latin typeface="Calibri"/>
              </a:rPr>
              <a:t>Project Title: </a:t>
            </a:r>
            <a:r>
              <a:rPr sz="1600" b="1">
                <a:solidFill>
                  <a:srgbClr val="2E1A47"/>
                </a:solidFill>
                <a:latin typeface="Calibri"/>
              </a:rPr>
              <a:t>KG + RAG INTELLIGENCE – HYBRID KNOWLEDGE-GRAPH AND RAG Q&amp;A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A35"/>
                </a:solidFill>
                <a:latin typeface="Calibri"/>
              </a:rPr>
              <a:t>Presented by: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7CBB5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Prajwal H D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7CBB5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1CK22AI038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7CBB5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8th Semester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7CBB5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Dept. of AI &amp;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1206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A2A35"/>
                </a:solidFill>
                <a:latin typeface="Calibri"/>
              </a:rPr>
              <a:t>Internship Guide: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44068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7CBB5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Prof. Vanitha L B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7CBB5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Assistant Professor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7CBB5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Dept. of AI &amp; ML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7CBB5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CBIT, Kolar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Organization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8B5CF6"/>
                </a:solidFill>
                <a:latin typeface="Calibri"/>
              </a:rPr>
              <a:t>▸ </a:t>
            </a:r>
            <a:r>
              <a:rPr sz="1700">
                <a:solidFill>
                  <a:srgbClr val="2A2A35"/>
                </a:solidFill>
                <a:latin typeface="Calibri"/>
              </a:rPr>
              <a:t>PySpiders is a well-known training and development organization specializing in software technologies including Python, Data Science, Artificial Intelligence, and Web Development.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8B5CF6"/>
                </a:solidFill>
                <a:latin typeface="Calibri"/>
              </a:rPr>
              <a:t>▸ </a:t>
            </a:r>
            <a:r>
              <a:rPr sz="1700">
                <a:solidFill>
                  <a:srgbClr val="2A2A35"/>
                </a:solidFill>
                <a:latin typeface="Calibri"/>
              </a:rPr>
              <a:t>The organization focuses on bridging the gap between academic learning and industry requirements by providing hands-on training and real-time project exposure.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8B5CF6"/>
                </a:solidFill>
                <a:latin typeface="Calibri"/>
              </a:rPr>
              <a:t>▸ </a:t>
            </a:r>
            <a:r>
              <a:rPr sz="1700">
                <a:solidFill>
                  <a:srgbClr val="2A2A35"/>
                </a:solidFill>
                <a:latin typeface="Calibri"/>
              </a:rPr>
              <a:t>During the internship I worked in the Python with Data Science / AI domain, where I gained practical knowledge in building intelligent retrieval and reasoning systems using LangChain, FAISS, and Google Gemini.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  <a:latin typeface="Calibri"/>
              </a:rPr>
              <a:t>▸ </a:t>
            </a:r>
            <a:r>
              <a:rPr sz="1600">
                <a:solidFill>
                  <a:srgbClr val="2A2A35"/>
                </a:solidFill>
                <a:latin typeface="Calibri"/>
              </a:rPr>
              <a:t>This project presents a Hybrid KG + RAG Intelligence System capable of answering natural-language questions over any uploaded PDF or text document.</a:t>
            </a:r>
          </a:p>
          <a:p>
            <a:pPr algn="l"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  <a:latin typeface="Calibri"/>
              </a:rPr>
              <a:t>▸ </a:t>
            </a:r>
            <a:r>
              <a:rPr sz="1600">
                <a:solidFill>
                  <a:srgbClr val="2A2A35"/>
                </a:solidFill>
                <a:latin typeface="Calibri"/>
              </a:rPr>
              <a:t>The system fuses two complementary indexes built from the same source: a FAISS vector store of semantic chunks and a NetworkX knowledge graph of LLM-extracted subject-predicate-object triplets.</a:t>
            </a:r>
          </a:p>
          <a:p>
            <a:pPr algn="l"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  <a:latin typeface="Calibri"/>
              </a:rPr>
              <a:t>▸ </a:t>
            </a:r>
            <a:r>
              <a:rPr sz="1600">
                <a:solidFill>
                  <a:srgbClr val="2A2A35"/>
                </a:solidFill>
                <a:latin typeface="Calibri"/>
              </a:rPr>
              <a:t>Each query is grounded by retrieving both relevant text chunks and connected graph facts, then forwarded to Google Gemini for citation-backed answer generation.</a:t>
            </a:r>
          </a:p>
          <a:p>
            <a:pPr algn="l">
              <a:lnSpc>
                <a:spcPct val="135000"/>
              </a:lnSpc>
            </a:pPr>
            <a:r>
              <a:rPr sz="1600" b="1">
                <a:solidFill>
                  <a:srgbClr val="8B5CF6"/>
                </a:solidFill>
                <a:latin typeface="Calibri"/>
              </a:rPr>
              <a:t>▸ </a:t>
            </a:r>
            <a:r>
              <a:rPr sz="1600">
                <a:solidFill>
                  <a:srgbClr val="2A2A35"/>
                </a:solidFill>
                <a:latin typeface="Calibri"/>
              </a:rPr>
              <a:t>The goal is to reduce LLM hallucination and improve multi-hop reasoning by combining semantic similarity with explicit relational structure — accessible through a polished Streamlit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Knowledge work today depends on synthesizing information across long documents — a task that scales poorly for humans.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Pure Retrieval-Augmented Generation (RAG) systems can fetch relevant passages but struggle with structural questions like 'who reports to whom' or 'what causes X to Y'.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Knowledge Graphs encode such relationships explicitly but are expensive to construct manually and brittle to maintain.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Recent advances in LLM-based information extraction make automatic graph construction feasible, opening the door to hybrid systems that combine the recall of RAG with the precision of graph traversal.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This project introduces such a system — an end-to-end agent that ingests a document, builds both indexes automatically, and answers questions grounded in fused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Internship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Design and develop a Hybrid KG + RAG Q&amp;A System that combines vector retrieval with knowledge-graph traversal — without requiring any manual annotation.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Solve a real-world problem: extracting accurate, citation-backed insights from long documents for non-technical users.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1A47"/>
                </a:solidFill>
                <a:latin typeface="Calibri"/>
              </a:rPr>
              <a:t>Specific goals — automate: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Document ingestion and chunking (PDF + TXT, recursive character splitting)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Vector embedding and FAISS indexing for semantic retrieval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LLM-driven triplet extraction (subject-predicate-object) to populate a NetworkX directed graph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Hybrid context fusion and grounded answer generation via Google Gemini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Citation-rich UI with chat history, interactive graph view, and report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A2A35"/>
                </a:solidFill>
                <a:latin typeface="Calibri"/>
              </a:rPr>
              <a:t>The project was developed using a modern Python AI/ML stack: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Language: Python 3.12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UI Framework: Streamlit 1.31 (chat, tabs, st.status, custom CSS)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Orchestration: LangChain 0.1.11 (loaders, splitters, prompt templates)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Vector Database: FAISS-CPU 1.8.0 (local persistence, no Docker required)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Knowledge Graph: NetworkX 3.2.1 — directed graph of extracted triplets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LLM + Embeddings: Google Gemini via langchain-google-genai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Graph Visualization: PyVis 0.3.1 (vis-network, in-line bundling)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Document Parsing: PyPDF 4.1.0 for PDF, native TextLoader for .txt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Auxiliary: gTTS for voice readback · Playwright for UI smoke tests · Pytest for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Project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The project builds an intelligent retrieval agent that ingests any PDF/TXT document and answers questions about it with grounded, citation-backed responses.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1A47"/>
                </a:solidFill>
                <a:latin typeface="Calibri"/>
              </a:rPr>
              <a:t>The system acts like a virtual research assistant by performing: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10972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Document parsing and recursive chunking that preserves semantic boundaries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Parallel index construction: FAISS embeddings + LLM-extracted knowledge graph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Hybrid retrieval that fuses chunk-similarity hits with relational graph facts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Grounded answer generation through Google Gemini with source-document citations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Interactive knowledge-graph visualization with force-directed physics layout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Markdown report export of the extracted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E1A47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This reduces hallucination, supports multi-hop reasoning, and speeds up decision-making for non-technical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Methodology /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A2A35"/>
                </a:solidFill>
                <a:latin typeface="Calibri"/>
              </a:rPr>
              <a:t>The system follows a structured pipeline: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User uploads a PDF / TXT document through the Streamlit sidebar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PyPDFLoader / TextLoader reads the raw content into LangChain Documents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RecursiveCharacterTextSplitter chunks the text (chunk_size = 1000, overlap = 200)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Chunks fan out in parallel: FAISS Embedder builds the vector store, LLM extracts JSON triplets that populate a NetworkX DiGraph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On query: the Validator gates length/format, FAISS returns top-K semantic matches, the KG retriever pulls neighboring relations for matched entities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Vector context + graph facts are fused into a single prompt and sent to Gemini for answer generation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Streamlit renders the answer, source-chunk citations, and the live knowledge-graph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An agile, iterative development approach with hot-reload was used to refine the UI and prompts.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46320" y="1691640"/>
            <a:ext cx="24688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2E1A47"/>
                </a:solidFill>
                <a:latin typeface="Calibri"/>
              </a:rPr>
              <a:t>1. Document Upload (PDF / TXT)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194560"/>
            <a:ext cx="0" cy="228600"/>
          </a:xfrm>
          <a:prstGeom prst="bentConnector3">
            <a:avLst/>
          </a:prstGeom>
          <a:ln w="15875">
            <a:solidFill>
              <a:srgbClr val="6E6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46320" y="2423160"/>
            <a:ext cx="24688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2E1A47"/>
                </a:solidFill>
                <a:latin typeface="Calibri"/>
              </a:rPr>
              <a:t>2. Loader → Chunker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926080"/>
            <a:ext cx="0" cy="228600"/>
          </a:xfrm>
          <a:prstGeom prst="bentConnector3">
            <a:avLst/>
          </a:prstGeom>
          <a:ln w="15875">
            <a:solidFill>
              <a:srgbClr val="6E6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94560" y="3154680"/>
            <a:ext cx="3200400" cy="548640"/>
          </a:xfrm>
          <a:prstGeom prst="roundRect">
            <a:avLst/>
          </a:prstGeom>
          <a:solidFill>
            <a:srgbClr val="EEE7F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2E1A47"/>
                </a:solidFill>
                <a:latin typeface="Calibri"/>
              </a:rPr>
              <a:t>3a. FAISS Vector 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154680"/>
            <a:ext cx="3200400" cy="548640"/>
          </a:xfrm>
          <a:prstGeom prst="roundRect">
            <a:avLst/>
          </a:prstGeom>
          <a:solidFill>
            <a:srgbClr val="FFEAE3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2E1A47"/>
                </a:solidFill>
                <a:latin typeface="Calibri"/>
              </a:rPr>
              <a:t>3b. KG Triplet Extraction → NetworkX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794760" y="2926080"/>
            <a:ext cx="2286000" cy="228600"/>
          </a:xfrm>
          <a:prstGeom prst="bentConnector3">
            <a:avLst/>
          </a:prstGeom>
          <a:ln w="15875">
            <a:solidFill>
              <a:srgbClr val="6E6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2926080"/>
            <a:ext cx="2377440" cy="228600"/>
          </a:xfrm>
          <a:prstGeom prst="bentConnector3">
            <a:avLst/>
          </a:prstGeom>
          <a:ln w="15875">
            <a:solidFill>
              <a:srgbClr val="6E6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46320" y="3977639"/>
            <a:ext cx="24688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2E1A47"/>
                </a:solidFill>
                <a:latin typeface="Calibri"/>
              </a:rPr>
              <a:t>4. User Query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4480560"/>
            <a:ext cx="0" cy="228600"/>
          </a:xfrm>
          <a:prstGeom prst="bentConnector3">
            <a:avLst/>
          </a:prstGeom>
          <a:ln w="15875">
            <a:solidFill>
              <a:srgbClr val="6E6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194560" y="4709160"/>
            <a:ext cx="3200400" cy="502920"/>
          </a:xfrm>
          <a:prstGeom prst="roundRect">
            <a:avLst/>
          </a:prstGeom>
          <a:solidFill>
            <a:srgbClr val="EEE7FB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2E1A47"/>
                </a:solidFill>
                <a:latin typeface="Calibri"/>
              </a:rPr>
              <a:t>5a. Vector Retriever (top-K)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4709160"/>
            <a:ext cx="3200400" cy="502920"/>
          </a:xfrm>
          <a:prstGeom prst="roundRect">
            <a:avLst/>
          </a:prstGeom>
          <a:solidFill>
            <a:srgbClr val="FFEAE3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2E1A47"/>
                </a:solidFill>
                <a:latin typeface="Calibri"/>
              </a:rPr>
              <a:t>5b. KG Retriever (keyword → neighbors)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794760" y="4709160"/>
            <a:ext cx="2286000" cy="0"/>
          </a:xfrm>
          <a:prstGeom prst="bentConnector3">
            <a:avLst/>
          </a:prstGeom>
          <a:ln w="15875">
            <a:solidFill>
              <a:srgbClr val="6E6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4709160"/>
            <a:ext cx="2377440" cy="0"/>
          </a:xfrm>
          <a:prstGeom prst="bentConnector3">
            <a:avLst/>
          </a:prstGeom>
          <a:ln w="15875">
            <a:solidFill>
              <a:srgbClr val="6E6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0" y="5394960"/>
            <a:ext cx="3017520" cy="502920"/>
          </a:xfrm>
          <a:prstGeom prst="roundRect">
            <a:avLst/>
          </a:prstGeom>
          <a:solidFill>
            <a:srgbClr val="DCD0F8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2E1A47"/>
                </a:solidFill>
                <a:latin typeface="Calibri"/>
              </a:rPr>
              <a:t>6. Context Fusion → Gemini LLM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94760" y="5212080"/>
            <a:ext cx="2286000" cy="182880"/>
          </a:xfrm>
          <a:prstGeom prst="bentConnector3">
            <a:avLst/>
          </a:prstGeom>
          <a:ln w="15875">
            <a:solidFill>
              <a:srgbClr val="6E6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080760" y="5212080"/>
            <a:ext cx="2377440" cy="182880"/>
          </a:xfrm>
          <a:prstGeom prst="bentConnector3">
            <a:avLst/>
          </a:prstGeom>
          <a:ln w="15875">
            <a:solidFill>
              <a:srgbClr val="6E6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72000" y="6126479"/>
            <a:ext cx="30175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2E1A47"/>
                </a:solidFill>
                <a:latin typeface="Calibri"/>
              </a:rPr>
              <a:t>7. Streamlit UI (answer + citations + graph)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5897879"/>
            <a:ext cx="0" cy="228600"/>
          </a:xfrm>
          <a:prstGeom prst="bentConnector3">
            <a:avLst/>
          </a:prstGeom>
          <a:ln w="15875">
            <a:solidFill>
              <a:srgbClr val="6E6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Work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During the internship I independently designed and implemented the complete system end-to-end. My key contributions: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Document loading pipeline supporting PDF (PyPDF) and TXT inputs with extension validation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Recursive chunking pipeline tuned for LLM token windows (chunk_size=1000, overlap=200)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FAISS vector store with persistence and re-load logic to avoid duplicate embedding cost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LLM-driven triplet extraction with prompt-engineered JSON output, parsed into a NetworkX DiGraph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Hybrid retriever fusing top-K FAISS results with keyword-matched graph facts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Premium Streamlit UI: chat input, source citations, force-directed PyVis graph, status pills, hero gradient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Programmatic driver (driver.py) with health probe, screenshot, and smoke commands via Playwright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Pytest validation suite (5 tests, 100% passing) covering imports, config, chunker, validator, KG 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A2A35"/>
                </a:solidFill>
                <a:latin typeface="Calibri"/>
              </a:rPr>
              <a:t>The system successfully delivers the following outputs: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End-to-end Q&amp;A over uploaded documents with grounded, citation-backed answers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Automatic knowledge graph extraction (typical: 60+ entities and 40+ relations on a 4-chunk document)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Interactive force-directed graph visualization with hover tooltips, degree-based sizing, and 6-color palette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Source-chunk citations rendered inline with chunk number, source file, page number, and 420-char snippet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Markdown intelligence-report export listing extracted triplets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Optional voice readback of answers via gTTS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All five pytest validation tests pass under Python 3.12 in ~47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Results demonstrate that the system can handle real-world documents and reduce hallucination through fused retrieval.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Snapshots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91640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7E"/>
                </a:solidFill>
                <a:latin typeface="Calibri"/>
              </a:rPr>
              <a:t>Figure 1: KG + RAG Intelligence — empty state with status pills, sidebar controls, and onboarding card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Snapshots (continued)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A2A35"/>
                </a:solidFill>
                <a:latin typeface="Calibri"/>
              </a:rPr>
              <a:t>Additional UI panels captured during user testing: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09728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Indexing status block — live stepped progress: Loading → Chunking → Embedding → Extracting KG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Chat tab — assistant messages with bot avatar, expandable Sources panel showing chunk metadata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Knowledge graph tab — Entities / Relationships / Graph density metric tiles and interactive PyVis canvas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Sidebar — Voice readback toggle, Document source uploader, Export controls, Reset session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Intelligence Report — Markdown export with entity counts and up to 50 triplets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Calibri"/>
              </a:rPr>
              <a:t>Refer to the live demo at http://localhost:8501 for full interactivity.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Challenges Faced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Handling PDFs whose pages contain images instead of extractable text (PyPDFLoader returns empty chunks).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Streamlit's WebSocket-driven hydration broke naive `chrome --headless --screenshot` testing — virtual time does not advance the websocket exchange.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PyVis save_graph attempted to write into ./lib/bindings, which failed with WinError 5 on a OneDrive-synced project root where lib/ was already locked.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Streamlit's chat_message rejected the custom Unicode glyph `◈` because it is not in the emoji whitelist, falling through to a missing-file open.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The shipped venv was a Python 3.9 shim hard-coded to another user's machine path, blocking every Python invocation until rebuilt.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Limited prompt-engineering budget to coax stable JSON triplets out of the LLM across diverse document genres.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Solutions &amp;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1A47"/>
                </a:solidFill>
                <a:latin typeface="Calibri"/>
              </a:rPr>
              <a:t>Solutions applied: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0972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Documented the PDF-extraction caveat in the run skill and validated extensions early via validate_file_extension.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Replaced ad-hoc screenshotting with a Playwright-based driver that waits for the .hero-title selector before capturing.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Switched PyVis to cdn_resources='in_line' and generate_html() — no filesystem writes, no lib/ permission issues.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Swapped invalid Unicode avatars for real emoji (🤖, 🧑, 🧠) accepted by Streamlit's validator.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Rebuilt the venv with the local Python 3.12 interpreter and force-reinstalled all wheels.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1A47"/>
                </a:solidFill>
                <a:latin typeface="Calibri"/>
              </a:rPr>
              <a:t>Key learnings: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Hybrid AI architectures combining vector retrieval with structured graphs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LLM-driven information extraction and prompt design for structured JSON output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Streamlit advanced UI patterns: chat, status blocks, custom CSS, components.html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</a:t>
            </a:r>
            <a:r>
              <a:rPr sz="1300">
                <a:solidFill>
                  <a:srgbClr val="2A2A35"/>
                </a:solidFill>
                <a:latin typeface="Calibri"/>
              </a:rPr>
              <a:t>Headless web-app testing with Playwright and CDP-driven hydration waits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The system has broad applicability wherever long-form documents need to be questioned and cross-referenced: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Enterprise document Q&amp;A — internal policies, SOPs, technical manuals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Legal and contract analysis — clause lookup, cross-reference, obligation extraction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Academic research — literature review and citation discovery across PDFs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Medical record summarization — patient history Q&amp;A with relational grounding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Compliance and audit — regulation traceability across multi-section documents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5CF6"/>
                </a:solidFill>
                <a:latin typeface="Calibri"/>
              </a:rPr>
              <a:t>▸ </a:t>
            </a:r>
            <a:r>
              <a:rPr sz="1400">
                <a:solidFill>
                  <a:srgbClr val="2A2A35"/>
                </a:solidFill>
                <a:latin typeface="Calibri"/>
              </a:rPr>
              <a:t>Construction project management — RFI / drawing-set / specification queries (directly relevant to A N Prakash CPMC)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It empowers non-technical users to extract structured insights without writing code.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The project successfully demonstrates that combining vector retrieval with automatically-extracted knowledge graphs produces a more grounded and reasoning-friendly Q&amp;A agent than either approach alone.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The Hybrid KG + RAG Intelligence system reduces hallucination, supports multi-hop reasoning via graph traversal, and presents results in a polished, citation-rich Streamlit interface.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End-to-end automation — from document ingestion to graph visualization — makes the system usable by non-technical stakeholders without sacrificing rigor.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</a:t>
            </a:r>
            <a:r>
              <a:rPr sz="1500">
                <a:solidFill>
                  <a:srgbClr val="2A2A35"/>
                </a:solidFill>
                <a:latin typeface="Calibri"/>
              </a:rPr>
              <a:t>The project deepened my understanding of LLM orchestration, retrieval architectures, and production-quality web UI engineering, and serves as a strong foundation for further work on agentic retrieval systems.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E1A47"/>
                </a:solidFill>
                <a:latin typeface="Calibri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28016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E6E7E"/>
                </a:solidFill>
                <a:latin typeface="Calibri"/>
              </a:rPr>
              <a:t>Internship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7E"/>
                </a:solidFill>
                <a:latin typeface="Calibri"/>
              </a:rPr>
              <a:t>Dept of AIML, CBIT-Kolar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E6E7E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6E6E7E"/>
                </a:solidFill>
                <a:latin typeface="Calibr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521440" cy="9000"/>
          </a:xfrm>
          <a:prstGeom prst="rect">
            <a:avLst/>
          </a:prstGeom>
          <a:solidFill>
            <a:srgbClr val="D7C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>
                <a:solidFill>
                  <a:srgbClr val="8B5CF6"/>
                </a:solidFill>
                <a:latin typeface="Calibri"/>
              </a:rPr>
              <a:t>Q &amp;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2A2A35"/>
                </a:solidFill>
                <a:latin typeface="Calibri"/>
              </a:rPr>
              <a:t>Questions, suggestions, and discussion welcomed.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E6E7E"/>
                </a:solidFill>
                <a:latin typeface="Calibri"/>
              </a:rPr>
              <a:t>— Prajwal H D · 1CK22AI038 · 8th Semester · Dept. of AI &amp; ML, CBIT Kolar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